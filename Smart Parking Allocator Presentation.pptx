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Inter SemiBold"/>
      <p:regular r:id="rId11"/>
      <p:bold r:id="rId12"/>
      <p:italic r:id="rId13"/>
      <p:boldItalic r:id="rId14"/>
    </p:embeddedFont>
    <p:embeddedFont>
      <p:font typeface="Inter"/>
      <p:regular r:id="rId15"/>
      <p:bold r:id="rId16"/>
      <p:italic r:id="rId17"/>
      <p:boldItalic r:id="rId18"/>
    </p:embeddedFont>
    <p:embeddedFont>
      <p:font typeface="Urbanist SemiBold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  <p:embeddedFont>
      <p:font typeface="Inter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.fntdata"/><Relationship Id="rId22" Type="http://schemas.openxmlformats.org/officeDocument/2006/relationships/font" Target="fonts/UrbanistSemiBold-boldItalic.fntdata"/><Relationship Id="rId21" Type="http://schemas.openxmlformats.org/officeDocument/2006/relationships/font" Target="fonts/UrbanistSemiBold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InterMedium-boldItalic.fntdata"/><Relationship Id="rId11" Type="http://schemas.openxmlformats.org/officeDocument/2006/relationships/font" Target="fonts/InterSemiBold-regular.fntdata"/><Relationship Id="rId10" Type="http://schemas.openxmlformats.org/officeDocument/2006/relationships/slide" Target="slides/slide5.xml"/><Relationship Id="rId13" Type="http://schemas.openxmlformats.org/officeDocument/2006/relationships/font" Target="fonts/InterSemiBold-italic.fntdata"/><Relationship Id="rId12" Type="http://schemas.openxmlformats.org/officeDocument/2006/relationships/font" Target="fonts/InterSemiBold-bold.fntdata"/><Relationship Id="rId15" Type="http://schemas.openxmlformats.org/officeDocument/2006/relationships/font" Target="fonts/Inter-regular.fntdata"/><Relationship Id="rId14" Type="http://schemas.openxmlformats.org/officeDocument/2006/relationships/font" Target="fonts/InterSemiBold-boldItalic.fntdata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19" Type="http://schemas.openxmlformats.org/officeDocument/2006/relationships/font" Target="fonts/UrbanistSemiBold-regular.fntdata"/><Relationship Id="rId18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95325" y="2189857"/>
            <a:ext cx="10801350" cy="15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Smart Parking </a:t>
            </a:r>
            <a:r>
              <a:rPr b="1" i="0" lang="en-US" sz="57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Allocation</a:t>
            </a:r>
            <a:r>
              <a:rPr b="1" i="0" lang="en-US" sz="57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619250" y="3972817"/>
            <a:ext cx="89535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AN ALGORITHMIC &amp; PERSISTENT APPROACH TO SPACE MANAGEMENT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810250" y="4630042"/>
            <a:ext cx="571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952500" y="723900"/>
            <a:ext cx="47700" cy="609600"/>
          </a:xfrm>
          <a:prstGeom prst="roundRect">
            <a:avLst>
              <a:gd fmla="val 4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143000" y="66675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Urban Mobility Bottlenecks</a:t>
            </a:r>
            <a:endParaRPr b="0" sz="1200">
              <a:solidFill>
                <a:srgbClr val="10B981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Problem Statement</a:t>
            </a:r>
            <a:endParaRPr b="1" sz="3200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1666875"/>
            <a:ext cx="4953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Traditional parking infrastructures rely on unguided manual entry searching, creating systemic inefficiencies across modern smart cities.</a:t>
            </a:r>
            <a:endParaRPr sz="15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6" name="Google Shape;96;p14"/>
          <p:cNvGrpSpPr/>
          <p:nvPr/>
        </p:nvGrpSpPr>
        <p:grpSpPr>
          <a:xfrm>
            <a:off x="952500" y="2667000"/>
            <a:ext cx="4953075" cy="952500"/>
            <a:chOff x="0" y="0"/>
            <a:chExt cx="4953075" cy="952500"/>
          </a:xfrm>
        </p:grpSpPr>
        <p:sp>
          <p:nvSpPr>
            <p:cNvPr id="97" name="Google Shape;97;p14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333375" y="0"/>
              <a:ext cx="4619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Congestion &amp; Waste:</a:t>
              </a:r>
              <a:r>
                <a:rPr lang="en-US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Drivers waste an average of 15 minutes cruising for spots, causing localized traffic snarls and fuel emissions.</a:t>
              </a:r>
              <a:endParaRPr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9" name="Google Shape;99;p14"/>
          <p:cNvGrpSpPr/>
          <p:nvPr/>
        </p:nvGrpSpPr>
        <p:grpSpPr>
          <a:xfrm>
            <a:off x="952500" y="3762375"/>
            <a:ext cx="4953075" cy="952500"/>
            <a:chOff x="0" y="0"/>
            <a:chExt cx="4953075" cy="952500"/>
          </a:xfrm>
        </p:grpSpPr>
        <p:sp>
          <p:nvSpPr>
            <p:cNvPr id="100" name="Google Shape;100;p14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333375" y="0"/>
              <a:ext cx="4619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Volatile Space Tracking:</a:t>
              </a:r>
              <a:r>
                <a:rPr lang="en-US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Existing software dashboards lack real-time infrastructure persistence, resulting in rapid data loss on server refresh.</a:t>
              </a:r>
              <a:endParaRPr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2" name="Google Shape;102;p14"/>
          <p:cNvGrpSpPr/>
          <p:nvPr/>
        </p:nvGrpSpPr>
        <p:grpSpPr>
          <a:xfrm>
            <a:off x="952500" y="4953000"/>
            <a:ext cx="4953075" cy="952500"/>
            <a:chOff x="0" y="0"/>
            <a:chExt cx="4953075" cy="952500"/>
          </a:xfrm>
        </p:grpSpPr>
        <p:sp>
          <p:nvSpPr>
            <p:cNvPr id="103" name="Google Shape;103;p14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0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333375" y="0"/>
              <a:ext cx="46197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10B98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Inefficient Sizing:</a:t>
              </a:r>
              <a:r>
                <a:rPr lang="en-US" sz="14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Large SUVs occupy tight spots while small two-wheelers take up oversized vehicle zones.</a:t>
              </a:r>
              <a:endParaRPr sz="14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6477000" y="1666875"/>
            <a:ext cx="4762500" cy="1905000"/>
            <a:chOff x="0" y="0"/>
            <a:chExt cx="4762500" cy="1905000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762500" cy="1905000"/>
            </a:xfrm>
            <a:prstGeom prst="roundRect">
              <a:avLst>
                <a:gd fmla="val 8000" name="adj"/>
              </a:avLst>
            </a:prstGeom>
            <a:solidFill>
              <a:srgbClr val="111827"/>
            </a:solidFill>
            <a:ln cap="flat" cmpd="sng" w="14300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0" y="0"/>
              <a:ext cx="57300" cy="19050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285750" y="238125"/>
              <a:ext cx="4191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600">
                  <a:solidFill>
                    <a:srgbClr val="10B981"/>
                  </a:solidFill>
                  <a:latin typeface="Urbanist"/>
                  <a:ea typeface="Urbanist"/>
                  <a:cs typeface="Urbanist"/>
                  <a:sym typeface="Urbanist"/>
                </a:rPr>
                <a:t>30%</a:t>
              </a:r>
              <a:endParaRPr b="1" sz="560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OF DOWNTOWN TRAFFIC CAUSED BY PARKING HUNTS</a:t>
              </a:r>
              <a:endParaRPr b="0" sz="11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>
            <a:off x="6477000" y="3905250"/>
            <a:ext cx="4762500" cy="1905000"/>
            <a:chOff x="0" y="0"/>
            <a:chExt cx="4762500" cy="1905000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0"/>
              <a:ext cx="4762500" cy="1905000"/>
            </a:xfrm>
            <a:prstGeom prst="roundRect">
              <a:avLst>
                <a:gd fmla="val 8000" name="adj"/>
              </a:avLst>
            </a:prstGeom>
            <a:solidFill>
              <a:srgbClr val="111827"/>
            </a:solidFill>
            <a:ln cap="flat" cmpd="sng" w="14300">
              <a:solidFill>
                <a:srgbClr val="1F29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0" y="0"/>
              <a:ext cx="57300" cy="19050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285750" y="238125"/>
              <a:ext cx="4191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600">
                  <a:solidFill>
                    <a:srgbClr val="10B981"/>
                  </a:solidFill>
                  <a:latin typeface="Urbanist"/>
                  <a:ea typeface="Urbanist"/>
                  <a:cs typeface="Urbanist"/>
                  <a:sym typeface="Urbanist"/>
                </a:rPr>
                <a:t>Zero</a:t>
              </a:r>
              <a:endParaRPr b="1" sz="560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FAULT TOLERANCE IN VOLATILE MEMORY CACHING</a:t>
              </a:r>
              <a:endParaRPr b="0" sz="1100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264271"/>
            <a:ext cx="3238500" cy="3501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50" y="2264271"/>
            <a:ext cx="3238500" cy="3501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2264271"/>
            <a:ext cx="3238500" cy="3501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1190625" y="762000"/>
            <a:ext cx="105513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Methodology &amp; Approach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190625" y="1266825"/>
            <a:ext cx="10048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TWO-PHASE ENGINEERING PIPELINE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343025" y="3216771"/>
            <a:ext cx="25803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Streamlit Interface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343025" y="3635871"/>
            <a:ext cx="245745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Designed a web-native digital twin terminal dashboard to handle rapid user operations including instant real-time vehicle check-in and checkout pipelines.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867275" y="3216771"/>
            <a:ext cx="25803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Greedy Best-Fit Algorithm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867275" y="3912096"/>
            <a:ext cx="24574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Implemented a deterministic sorting model matching incoming sizes (Compact, Medium, Large) to available bays, prioritising the absolute minimum entry-gate distance.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391525" y="3216771"/>
            <a:ext cx="258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SQLite &amp; Firebase Integration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391525" y="3912096"/>
            <a:ext cx="24574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Decoupled local session caching by engineering a permanent, transactional relational database matrix that seals entry metrics and prints sequential auditing ledgers.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3025" y="2683371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7275" y="2683371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91525" y="2683371"/>
            <a:ext cx="2667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2571750"/>
            <a:ext cx="4762500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1190625" y="762000"/>
            <a:ext cx="105513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Results &amp; Outcome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190625" y="1266825"/>
            <a:ext cx="10048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PERFORMANCE METRICS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867525" y="2962275"/>
            <a:ext cx="418052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Verified System Optimization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867525" y="3409950"/>
            <a:ext cx="398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💾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Storage: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Local persistent SQL relational layer file generation.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867525" y="4010025"/>
            <a:ext cx="398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⚡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Search Speed: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Heap-level array scanning prioritization parameters.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867525" y="4610100"/>
            <a:ext cx="398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📉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UI Crash Impact: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Zero. Reboots read latest written logs directly from the active db file.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333500" y="2085975"/>
            <a:ext cx="4381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Instantaneous Allocation Bounds: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Transitioned tracking loops to direct database metrics, establishing optimal spatial assignments instantly.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333500" y="3467100"/>
            <a:ext cx="4381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100% Data Persistence Safety: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Decoupling state parameters into persistent SQLite tables removed data-loss vulnerability completely upon unexpected crashes.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333500" y="4848225"/>
            <a:ext cx="4381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Automated Financial Ledger: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Integrated automatic stay-duration clocks linked directly to an append-only transaction history grid.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0859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4671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84822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12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3071663"/>
            <a:ext cx="4762500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1190625" y="762000"/>
            <a:ext cx="1055131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190625" y="1266825"/>
            <a:ext cx="10048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SUMMARY &amp; FUTURE FRONTIERS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52500" y="2790080"/>
            <a:ext cx="476250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project validates how combining core algorithmic constraints (Greedy Sorting) with persistent relational systems creates low-latency urban tech tools.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52500" y="4416474"/>
            <a:ext cx="4762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evolving the prototype from basic cache arrays into a hardened SQLite framework using rapid AI prototyping, we eliminated system data loss completely.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896100" y="3462188"/>
            <a:ext cx="41505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Future Roadmap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896100" y="3881288"/>
            <a:ext cx="39528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Integrate dynamic machine learning forecasting loops to compute vehicle inflow metrics and adjust real-time dynamic tariff rates ahead of peak parking rushes.</a:t>
            </a:r>
            <a:endParaRPr/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96100" y="3481238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